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sldIdLst>
    <p:sldId id="267" r:id="rId2"/>
    <p:sldId id="258" r:id="rId3"/>
    <p:sldId id="292" r:id="rId4"/>
    <p:sldId id="293" r:id="rId5"/>
    <p:sldId id="299" r:id="rId6"/>
    <p:sldId id="303" r:id="rId7"/>
    <p:sldId id="294" r:id="rId8"/>
    <p:sldId id="295" r:id="rId9"/>
    <p:sldId id="296" r:id="rId10"/>
    <p:sldId id="297" r:id="rId11"/>
    <p:sldId id="298" r:id="rId12"/>
    <p:sldId id="300" r:id="rId13"/>
    <p:sldId id="301" r:id="rId14"/>
    <p:sldId id="302" r:id="rId15"/>
    <p:sldId id="290" r:id="rId16"/>
  </p:sldIdLst>
  <p:sldSz cx="12188825" cy="6858000"/>
  <p:notesSz cx="9144000" cy="6858000"/>
  <p:custDataLst>
    <p:tags r:id="rId18"/>
  </p:custDataLst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89D"/>
    <a:srgbClr val="FFFFCC"/>
    <a:srgbClr val="B64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1924" autoAdjust="0"/>
  </p:normalViewPr>
  <p:slideViewPr>
    <p:cSldViewPr>
      <p:cViewPr>
        <p:scale>
          <a:sx n="45" d="100"/>
          <a:sy n="45" d="100"/>
        </p:scale>
        <p:origin x="1656" y="320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D280-6578-417B-9585-6BE91CE229D8}" type="datetimeFigureOut">
              <a:rPr lang="en-US" smtClean="0"/>
              <a:pPr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70E6E5-C4A4-4177-8749-15A049D80BB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0E6E5-C4A4-4177-8749-15A049D80BB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0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0E6E5-C4A4-4177-8749-15A049D80BB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62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DAF9A2C-B3D7-437A-B75C-36ACEE4915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684" y="6583362"/>
            <a:ext cx="1320456" cy="166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143ED-1235-410B-9D18-2375A246C602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A8F1513-1A50-405F-8F40-F519FCABE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593" y="6546647"/>
            <a:ext cx="1015735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D9110-B89D-42F3-8B01-E2E15B82F3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012" y="274639"/>
            <a:ext cx="11734800" cy="639761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170" y="1166018"/>
            <a:ext cx="11713642" cy="51585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EE3DEB3-8B46-44F2-9C7B-DD193E61F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684" y="6583362"/>
            <a:ext cx="1320456" cy="166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30444-3B65-4234-9998-D5F2EF57C986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9AE2730-97CB-4FF1-B338-31D8B0BB2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593" y="6546647"/>
            <a:ext cx="1015735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D9110-B89D-42F3-8B01-E2E15B82F3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2A99CE0-41C2-4ED0-8202-85F724A7B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684" y="6583362"/>
            <a:ext cx="1320456" cy="166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2DB44-E4DA-4E78-95E9-C76D3B015CA8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0DA859-CD4F-4843-A992-53BEB9923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593" y="6546647"/>
            <a:ext cx="1015735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D9110-B89D-42F3-8B01-E2E15B82F3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200151"/>
            <a:ext cx="5383398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200151"/>
            <a:ext cx="5383398" cy="33940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BAA9B7A-5128-41F7-AE81-5F9C41177D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84" y="6583362"/>
            <a:ext cx="1320456" cy="166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66818-E2B3-4B46-B5F3-EDF47CB08872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B06F3B3-D752-49A9-B033-1CC4B922A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593" y="6546647"/>
            <a:ext cx="1015735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D9110-B89D-42F3-8B01-E2E15B82F3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5A560074-64C4-41C6-8E03-6D56F1C5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84" y="6583362"/>
            <a:ext cx="1320456" cy="166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2663F-BBDF-42E2-89B7-56937A72B51B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BD5305B-11D4-4258-9101-DDF60CF2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27593" y="6546647"/>
            <a:ext cx="1015735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D9110-B89D-42F3-8B01-E2E15B82F3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227" y="167482"/>
            <a:ext cx="10969943" cy="71596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6E42DA2-68BC-405A-9B3C-51445BE2D9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684" y="6583362"/>
            <a:ext cx="1320456" cy="166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E6042-724E-458D-AE38-1ED57C9CD1AC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115EADB-17FF-4672-AB25-B85CBEC37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593" y="6546647"/>
            <a:ext cx="1015735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D9110-B89D-42F3-8B01-E2E15B82F3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6E643-71D5-475A-98AE-DCAFD72F33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684" y="6583362"/>
            <a:ext cx="1320456" cy="166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DF2FE-4B1C-431A-ADE6-33547B2AF5C5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8DDA758-A54E-4902-8065-C2005355C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593" y="6546647"/>
            <a:ext cx="1015735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D9110-B89D-42F3-8B01-E2E15B82F3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33BC96C-D062-4B78-82F2-EC04448118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84" y="6583362"/>
            <a:ext cx="1320456" cy="166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91108-43A5-48C9-8B5B-033E96E06982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5326D0D-A288-407D-A827-B6307FFEE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593" y="6546647"/>
            <a:ext cx="1015735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D9110-B89D-42F3-8B01-E2E15B82F3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E3420E48-95C7-41AF-B3CA-A0EBB001F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4684" y="6583362"/>
            <a:ext cx="1320456" cy="166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D399C-46DA-4104-98D1-08AAB6866448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C87B9CA-F093-4D97-86D1-0D356B75D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593" y="6546647"/>
            <a:ext cx="1015735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D9110-B89D-42F3-8B01-E2E15B82F3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1600201"/>
            <a:ext cx="1096994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179C7B6-F85A-4360-B342-9A20CA8CB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684" y="6583362"/>
            <a:ext cx="1320456" cy="166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502A9-DAA7-4B92-A7FC-4B839A79081F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E57BD82-B666-47A3-9945-7AEBA2159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593" y="6546647"/>
            <a:ext cx="1015735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D9110-B89D-42F3-8B01-E2E15B82F3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06375"/>
            <a:ext cx="2742486" cy="4387851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06375"/>
            <a:ext cx="8024310" cy="43878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BA6F8DC-5A2D-4910-A0EC-EC8E00CF41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684" y="6583362"/>
            <a:ext cx="1320456" cy="166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E59BE-CB6C-4DAB-9746-D58F730FB212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4646314-2C0C-48D2-ADB9-433D14A9D9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593" y="6546647"/>
            <a:ext cx="1015735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D9110-B89D-42F3-8B01-E2E15B82F3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>
            <a:extLst>
              <a:ext uri="{FF2B5EF4-FFF2-40B4-BE49-F238E27FC236}">
                <a16:creationId xmlns:a16="http://schemas.microsoft.com/office/drawing/2014/main" id="{D886F9F2-9E7B-4645-BF2B-C4B744B7388E}"/>
              </a:ext>
            </a:extLst>
          </p:cNvPr>
          <p:cNvSpPr/>
          <p:nvPr userDrawn="1"/>
        </p:nvSpPr>
        <p:spPr>
          <a:xfrm>
            <a:off x="74612" y="48547"/>
            <a:ext cx="12039600" cy="6760906"/>
          </a:xfrm>
          <a:prstGeom prst="frame">
            <a:avLst>
              <a:gd name="adj1" fmla="val 4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B981019F-FC73-4F28-811B-F9349C34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6185"/>
            <a:ext cx="10512862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E8D4CB-CBBD-4735-B6C4-170132096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6684"/>
            <a:ext cx="1051286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712825A-8228-4A78-AC27-072D03731E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466416"/>
            <a:ext cx="2742486" cy="256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F8D50-B2FE-49AA-9423-4879DBB05EBC}" type="datetime1">
              <a:rPr lang="en-US" smtClean="0"/>
              <a:t>9/3/2025</a:t>
            </a:fld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DB2C374-B50C-4D29-84AD-9DC3C89BB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466416"/>
            <a:ext cx="2742486" cy="256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CA286-1297-4DF9-98E4-11C6F9D92A0E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2" descr="SRM Institute of Science and Technology - Wikipedia">
            <a:extLst>
              <a:ext uri="{FF2B5EF4-FFF2-40B4-BE49-F238E27FC236}">
                <a16:creationId xmlns:a16="http://schemas.microsoft.com/office/drawing/2014/main" id="{21FC95F6-3057-A210-B48D-B28DE20F9F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9335" y="137804"/>
            <a:ext cx="738678" cy="73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4.10821?utm_source=chatgpt.com" TargetMode="External"/><Relationship Id="rId2" Type="http://schemas.openxmlformats.org/officeDocument/2006/relationships/hyperlink" Target="https://www.mdpi.com/2227-9067/10/8/1340/htm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ubmed.ncbi.nlm.nih.gov/33885922/?utm_source=chatgpt.com" TargetMode="External"/><Relationship Id="rId4" Type="http://schemas.openxmlformats.org/officeDocument/2006/relationships/hyperlink" Target="https://pubmed.ncbi.nlm.nih.gov/39911205/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jaypeedigital.com/abstractArticleContentBrowse/JFASAP/24316/JPJ/fullText?utm_source=chatgpt.com" TargetMode="External"/><Relationship Id="rId2" Type="http://schemas.openxmlformats.org/officeDocument/2006/relationships/hyperlink" Target="https://pubmed.ncbi.nlm.nih.gov/39783832/?utm_source=chatgp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onlinelibrary.wiley.com/doi/full/10.1155/2019/4308462?utm_source=chatgpt.com" TargetMode="External"/><Relationship Id="rId5" Type="http://schemas.openxmlformats.org/officeDocument/2006/relationships/hyperlink" Target="https://pubmed.ncbi.nlm.nih.gov/25361737/?utm_source=chatgpt.com" TargetMode="External"/><Relationship Id="rId4" Type="http://schemas.openxmlformats.org/officeDocument/2006/relationships/hyperlink" Target="https://bmcmusculoskeletdisord.biomedcentral.com/articles/10.1186/1471-2474-15-363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10480528/" TargetMode="External"/><Relationship Id="rId2" Type="http://schemas.openxmlformats.org/officeDocument/2006/relationships/hyperlink" Target="https://my.clevelandclinic.org/health/diseases/16889-clubfoo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hss.edu/health-library/conditions-and-treatments/the-ponseti-method-for-clubfoot-correction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00E039-552D-4043-AD4F-5EC37B815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817" y="1676400"/>
            <a:ext cx="11952842" cy="2286000"/>
          </a:xfrm>
        </p:spPr>
        <p:txBody>
          <a:bodyPr>
            <a:normAutofit fontScale="77500" lnSpcReduction="20000"/>
          </a:bodyPr>
          <a:lstStyle/>
          <a:p>
            <a:r>
              <a:rPr lang="en-US" sz="4799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</a:t>
            </a:r>
          </a:p>
          <a:p>
            <a:r>
              <a:rPr lang="en-US" sz="4799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r>
              <a:rPr lang="en-US" sz="4799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“Mechanical Abduction Braces for </a:t>
            </a:r>
            <a:r>
              <a:rPr lang="en-US" sz="4799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Cogenital</a:t>
            </a:r>
            <a:r>
              <a:rPr lang="en-US" sz="4799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Clubfoot Disorder”</a:t>
            </a:r>
          </a:p>
          <a:p>
            <a:endParaRPr lang="en-US" sz="4799" i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D6737D-CB59-4F6A-AB76-8F9D411F084E}"/>
              </a:ext>
            </a:extLst>
          </p:cNvPr>
          <p:cNvSpPr txBox="1"/>
          <p:nvPr/>
        </p:nvSpPr>
        <p:spPr>
          <a:xfrm>
            <a:off x="117199" y="77073"/>
            <a:ext cx="1195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 (21BMP302L)</a:t>
            </a:r>
          </a:p>
          <a:p>
            <a:pPr algn="ctr"/>
            <a:r>
              <a:rPr lang="en-IN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1</a:t>
            </a:r>
            <a:endParaRPr lang="en-IN" sz="3599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AE1A4F-8588-944E-D81A-0A8A2180B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081864"/>
              </p:ext>
            </p:extLst>
          </p:nvPr>
        </p:nvGraphicFramePr>
        <p:xfrm>
          <a:off x="114817" y="4953000"/>
          <a:ext cx="1195442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7214">
                  <a:extLst>
                    <a:ext uri="{9D8B030D-6E8A-4147-A177-3AD203B41FA5}">
                      <a16:colId xmlns:a16="http://schemas.microsoft.com/office/drawing/2014/main" val="1910627809"/>
                    </a:ext>
                  </a:extLst>
                </a:gridCol>
                <a:gridCol w="5977214">
                  <a:extLst>
                    <a:ext uri="{9D8B030D-6E8A-4147-A177-3AD203B41FA5}">
                      <a16:colId xmlns:a16="http://schemas.microsoft.com/office/drawing/2014/main" val="36013281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Presented By :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spc="-1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Aasif</a:t>
                      </a:r>
                      <a:r>
                        <a:rPr lang="en-IN" sz="18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Mehmood RA2311013010014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spc="-1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Tarunika</a:t>
                      </a:r>
                      <a:r>
                        <a:rPr lang="en-IN" sz="18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800" b="1" spc="-1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Manoranjan</a:t>
                      </a:r>
                      <a:r>
                        <a:rPr lang="en-IN" sz="18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RA2311013010024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spc="-1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Deva Ganesh RA2311013010030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spc="-1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spc="-1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b="1" spc="-1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Project Guide: Dr </a:t>
                      </a:r>
                      <a:r>
                        <a:rPr lang="en-IN" sz="1800" b="1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Shabeeb</a:t>
                      </a: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Ahmed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198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68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3CE9-345C-9417-01D8-AE4262BD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2" y="533400"/>
            <a:ext cx="11734800" cy="639761"/>
          </a:xfrm>
        </p:spPr>
        <p:txBody>
          <a:bodyPr>
            <a:normAutofit fontScale="90000"/>
          </a:bodyPr>
          <a:lstStyle/>
          <a:p>
            <a:r>
              <a:rPr lang="en-IN" dirty="0"/>
              <a:t>Introduction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9AAEF66-7755-4473-873A-DE90F9E7A4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8697" y="1802487"/>
            <a:ext cx="1155752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Talipes equinovarus (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cogenital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clubfoot):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Birth deformity where the foot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Twists inward and downward.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not treated, it leads to mobility restrictions and lifelong disability.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treatment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Ponseti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method (casting + prolonged bracing).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Issue with existing braces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Rigid, costly, uncomfortable, and poorly designed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causing poor compliance and relapse.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Clinical need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brace that allows controlled abduction and dorsiflexion while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comfort.</a:t>
            </a:r>
          </a:p>
        </p:txBody>
      </p:sp>
    </p:spTree>
    <p:extLst>
      <p:ext uri="{BB962C8B-B14F-4D97-AF65-F5344CB8AC3E}">
        <p14:creationId xmlns:p14="http://schemas.microsoft.com/office/powerpoint/2010/main" val="223111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3CE9-345C-9417-01D8-AE4262BD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11188" y="1143000"/>
            <a:ext cx="11734800" cy="639761"/>
          </a:xfrm>
        </p:spPr>
        <p:txBody>
          <a:bodyPr>
            <a:normAutofit fontScale="90000"/>
          </a:bodyPr>
          <a:lstStyle/>
          <a:p>
            <a:r>
              <a:rPr lang="en-IN" dirty="0"/>
              <a:t>	Aim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9AAEF66-7755-4473-873A-DE90F9E7A4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9412" y="2209800"/>
            <a:ext cx="1122191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mechanical abduction brace for congenital clubfoot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 gear-based adjustment mechanism and a lightweight metal rod 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that is more comfortable, ergonomic, and cost-effective than the </a:t>
            </a: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braces, ensuring better treatment outcomes</a:t>
            </a:r>
            <a:r>
              <a:rPr lang="en-US" sz="2800" dirty="0"/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811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3CE9-345C-9417-01D8-AE4262BD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7388" y="152400"/>
            <a:ext cx="11734800" cy="639761"/>
          </a:xfrm>
        </p:spPr>
        <p:txBody>
          <a:bodyPr>
            <a:normAutofit fontScale="90000"/>
          </a:bodyPr>
          <a:lstStyle/>
          <a:p>
            <a:r>
              <a:rPr lang="en-IN" dirty="0"/>
              <a:t>	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717780-87BE-4ECF-AA1C-299FC9E035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812" y="990600"/>
            <a:ext cx="4637808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 Gear Mechanism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Redesign Connecting Bar (Metal Rod)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Ergonomics and Comfort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Compliance</a:t>
            </a:r>
          </a:p>
        </p:txBody>
      </p:sp>
    </p:spTree>
    <p:extLst>
      <p:ext uri="{BB962C8B-B14F-4D97-AF65-F5344CB8AC3E}">
        <p14:creationId xmlns:p14="http://schemas.microsoft.com/office/powerpoint/2010/main" val="1870545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3CE9-345C-9417-01D8-AE4262BD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7388" y="381000"/>
            <a:ext cx="11734800" cy="639761"/>
          </a:xfrm>
        </p:spPr>
        <p:txBody>
          <a:bodyPr>
            <a:normAutofit fontScale="90000"/>
          </a:bodyPr>
          <a:lstStyle/>
          <a:p>
            <a:r>
              <a:rPr lang="en-IN" dirty="0"/>
              <a:t>	</a:t>
            </a:r>
            <a:r>
              <a:rPr lang="en-IN" sz="1800" dirty="0"/>
              <a:t>Literature Review 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827C1643-8A93-49F2-B063-01FD65AE7C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498101"/>
              </p:ext>
            </p:extLst>
          </p:nvPr>
        </p:nvGraphicFramePr>
        <p:xfrm>
          <a:off x="379412" y="1020761"/>
          <a:ext cx="555168" cy="3788458"/>
        </p:xfrm>
        <a:graphic>
          <a:graphicData uri="http://schemas.openxmlformats.org/drawingml/2006/table">
            <a:tbl>
              <a:tblPr/>
              <a:tblGrid>
                <a:gridCol w="138792">
                  <a:extLst>
                    <a:ext uri="{9D8B030D-6E8A-4147-A177-3AD203B41FA5}">
                      <a16:colId xmlns:a16="http://schemas.microsoft.com/office/drawing/2014/main" val="37250079"/>
                    </a:ext>
                  </a:extLst>
                </a:gridCol>
                <a:gridCol w="138792">
                  <a:extLst>
                    <a:ext uri="{9D8B030D-6E8A-4147-A177-3AD203B41FA5}">
                      <a16:colId xmlns:a16="http://schemas.microsoft.com/office/drawing/2014/main" val="2811424281"/>
                    </a:ext>
                  </a:extLst>
                </a:gridCol>
                <a:gridCol w="138792">
                  <a:extLst>
                    <a:ext uri="{9D8B030D-6E8A-4147-A177-3AD203B41FA5}">
                      <a16:colId xmlns:a16="http://schemas.microsoft.com/office/drawing/2014/main" val="2337069023"/>
                    </a:ext>
                  </a:extLst>
                </a:gridCol>
                <a:gridCol w="138792">
                  <a:extLst>
                    <a:ext uri="{9D8B030D-6E8A-4147-A177-3AD203B41FA5}">
                      <a16:colId xmlns:a16="http://schemas.microsoft.com/office/drawing/2014/main" val="3376271345"/>
                    </a:ext>
                  </a:extLst>
                </a:gridCol>
              </a:tblGrid>
              <a:tr h="233136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4426060"/>
                  </a:ext>
                </a:extLst>
              </a:tr>
              <a:tr h="1107395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590729"/>
                  </a:ext>
                </a:extLst>
              </a:tr>
              <a:tr h="757692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134355"/>
                  </a:ext>
                </a:extLst>
              </a:tr>
              <a:tr h="932543"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401672"/>
                  </a:ext>
                </a:extLst>
              </a:tr>
              <a:tr h="757692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 marL="56696" marR="56696" marT="28348" marB="2834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49827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B6392D5-4DDB-4616-A67D-D127A6961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626038"/>
              </p:ext>
            </p:extLst>
          </p:nvPr>
        </p:nvGraphicFramePr>
        <p:xfrm>
          <a:off x="455612" y="1287690"/>
          <a:ext cx="11353801" cy="42402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89318">
                  <a:extLst>
                    <a:ext uri="{9D8B030D-6E8A-4147-A177-3AD203B41FA5}">
                      <a16:colId xmlns:a16="http://schemas.microsoft.com/office/drawing/2014/main" val="2850932748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2717747252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2754467688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887559789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1992067404"/>
                    </a:ext>
                  </a:extLst>
                </a:gridCol>
                <a:gridCol w="2407211">
                  <a:extLst>
                    <a:ext uri="{9D8B030D-6E8A-4147-A177-3AD203B41FA5}">
                      <a16:colId xmlns:a16="http://schemas.microsoft.com/office/drawing/2014/main" val="1573023189"/>
                    </a:ext>
                  </a:extLst>
                </a:gridCol>
              </a:tblGrid>
              <a:tr h="242158">
                <a:tc>
                  <a:txBody>
                    <a:bodyPr/>
                    <a:lstStyle/>
                    <a:p>
                      <a:r>
                        <a:rPr lang="en-US" sz="1600" dirty="0"/>
                        <a:t>No.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Author (Year)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Study Title / Focus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Methodology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Key Findings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Limitations</a:t>
                      </a:r>
                    </a:p>
                  </a:txBody>
                  <a:tcPr marL="31070" marR="31070" marT="15535" marB="15535" anchor="ctr"/>
                </a:tc>
                <a:extLst>
                  <a:ext uri="{0D108BD9-81ED-4DB2-BD59-A6C34878D82A}">
                    <a16:rowId xmlns:a16="http://schemas.microsoft.com/office/drawing/2014/main" val="3267970715"/>
                  </a:ext>
                </a:extLst>
              </a:tr>
              <a:tr h="595429"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Butt et al. (2023)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Retrospective analysis of </a:t>
                      </a:r>
                      <a:r>
                        <a:rPr lang="en-US" sz="1600" dirty="0" err="1"/>
                        <a:t>Ponseti</a:t>
                      </a:r>
                      <a:r>
                        <a:rPr lang="en-US" sz="1600" dirty="0"/>
                        <a:t> outcomes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Single-center patient outcomes review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Successful correction across clubfoot types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Retrospective, limited generalizability (</a:t>
                      </a:r>
                      <a:r>
                        <a:rPr lang="en-US" sz="1600" dirty="0">
                          <a:hlinkClick r:id="rId2" tooltip="Outcomes of the Ponseti Technique in Different Types of Clubfoot—A Single Center Retrospective Analysis"/>
                        </a:rPr>
                        <a:t>MDPI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31070" marR="31070" marT="15535" marB="15535" anchor="ctr"/>
                </a:tc>
                <a:extLst>
                  <a:ext uri="{0D108BD9-81ED-4DB2-BD59-A6C34878D82A}">
                    <a16:rowId xmlns:a16="http://schemas.microsoft.com/office/drawing/2014/main" val="1049315304"/>
                  </a:ext>
                </a:extLst>
              </a:tr>
              <a:tr h="426489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Farrar et al. (2022)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Dynamic unilateral brace cohort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Retrospective cohort study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88% compliance, lower recurrence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Small, non-randomized cohort (</a:t>
                      </a:r>
                      <a:r>
                        <a:rPr lang="en-US" sz="1600" dirty="0" err="1">
                          <a:hlinkClick r:id="rId3" tooltip="Advances on mechanical designs for assistive ankle-foot orthoses"/>
                        </a:rPr>
                        <a:t>arXiv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31070" marR="31070" marT="15535" marB="15535" anchor="ctr"/>
                </a:tc>
                <a:extLst>
                  <a:ext uri="{0D108BD9-81ED-4DB2-BD59-A6C34878D82A}">
                    <a16:rowId xmlns:a16="http://schemas.microsoft.com/office/drawing/2014/main" val="1646741707"/>
                  </a:ext>
                </a:extLst>
              </a:tr>
              <a:tr h="531677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Zapparoli</a:t>
                      </a:r>
                      <a:r>
                        <a:rPr lang="en-US" sz="1600" dirty="0"/>
                        <a:t> &amp; </a:t>
                      </a:r>
                      <a:r>
                        <a:rPr lang="en-US" sz="1600" dirty="0" err="1"/>
                        <a:t>Volpon</a:t>
                      </a:r>
                      <a:r>
                        <a:rPr lang="en-US" sz="1600" dirty="0"/>
                        <a:t> (2025)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Unilateral UNIC-Brace vs double abduction brace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Prospective non-randomized study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UNIC-Brace: 17.2% failure vs 41.3%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Not randomized, institutional design (</a:t>
                      </a:r>
                      <a:r>
                        <a:rPr lang="en-US" sz="1600" dirty="0">
                          <a:hlinkClick r:id="rId4" tooltip="Design and evaluation of a unilateral brace for preventing clubfoot relapse: A prospective study - PubMed"/>
                        </a:rPr>
                        <a:t>PubMed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31070" marR="31070" marT="15535" marB="15535" anchor="ctr"/>
                </a:tc>
                <a:extLst>
                  <a:ext uri="{0D108BD9-81ED-4DB2-BD59-A6C34878D82A}">
                    <a16:rowId xmlns:a16="http://schemas.microsoft.com/office/drawing/2014/main" val="1653703379"/>
                  </a:ext>
                </a:extLst>
              </a:tr>
              <a:tr h="531677">
                <a:tc>
                  <a:txBody>
                    <a:bodyPr/>
                    <a:lstStyle/>
                    <a:p>
                      <a:r>
                        <a:rPr lang="en-US" sz="1600"/>
                        <a:t>4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Aroojis</a:t>
                      </a:r>
                      <a:r>
                        <a:rPr lang="en-US" sz="1600" dirty="0"/>
                        <a:t> et al. (2021)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SMART sensor-integrated brace prototype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Pre-clinical prototype evaluation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Feasible remote brace monitoring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Prototype stage, lacks clinical data (</a:t>
                      </a:r>
                      <a:r>
                        <a:rPr lang="en-US" sz="1600" dirty="0">
                          <a:hlinkClick r:id="rId5" tooltip="Development of a functional prototype of a SMART (Sensor-integrated for Monitoring And Remote Tracking) foot abduction brace for clubfoot treatment: a pre-clinical evaluation - PubMed"/>
                        </a:rPr>
                        <a:t>PubMed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31070" marR="31070" marT="15535" marB="15535" anchor="ctr"/>
                </a:tc>
                <a:extLst>
                  <a:ext uri="{0D108BD9-81ED-4DB2-BD59-A6C34878D82A}">
                    <a16:rowId xmlns:a16="http://schemas.microsoft.com/office/drawing/2014/main" val="1598062025"/>
                  </a:ext>
                </a:extLst>
              </a:tr>
              <a:tr h="595429">
                <a:tc>
                  <a:txBody>
                    <a:bodyPr/>
                    <a:lstStyle/>
                    <a:p>
                      <a:r>
                        <a:rPr lang="en-US" sz="1600"/>
                        <a:t>5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Agarwal (2022)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Review: sensor-based brace monitoring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Literature review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Sensors can reduce relapse by ~40%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Early studies, limited clinical validation (</a:t>
                      </a:r>
                      <a:r>
                        <a:rPr lang="en-US" sz="1600" dirty="0">
                          <a:hlinkClick r:id="rId5" tooltip="Development of a functional prototype of a SMART (Sensor-integrated for Monitoring And Remote Tracking) foot abduction brace for clubfoot treatment: a pre-clinical evaluation - PubMed"/>
                        </a:rPr>
                        <a:t>PubMed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31070" marR="31070" marT="15535" marB="15535" anchor="ctr"/>
                </a:tc>
                <a:extLst>
                  <a:ext uri="{0D108BD9-81ED-4DB2-BD59-A6C34878D82A}">
                    <a16:rowId xmlns:a16="http://schemas.microsoft.com/office/drawing/2014/main" val="120366648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6328732-6294-41BB-B739-099AFFFC14E3}"/>
              </a:ext>
            </a:extLst>
          </p:cNvPr>
          <p:cNvGraphicFramePr>
            <a:graphicFrameLocks noGrp="1"/>
          </p:cNvGraphicFramePr>
          <p:nvPr/>
        </p:nvGraphicFramePr>
        <p:xfrm>
          <a:off x="12674600" y="914400"/>
          <a:ext cx="208280" cy="3657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9197242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5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969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06A53-6C40-4E4A-800D-F05567CB6D8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FCDF2FE-4B1C-431A-ADE6-33547B2AF5C5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C0631-0B38-4750-BFBB-C410181F1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9D9110-B89D-42F3-8B01-E2E15B82F338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1CCA46-2DB5-4C55-96F9-7E4A7EA8EB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277006"/>
              </p:ext>
            </p:extLst>
          </p:nvPr>
        </p:nvGraphicFramePr>
        <p:xfrm>
          <a:off x="417511" y="914400"/>
          <a:ext cx="11353801" cy="85403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89318">
                  <a:extLst>
                    <a:ext uri="{9D8B030D-6E8A-4147-A177-3AD203B41FA5}">
                      <a16:colId xmlns:a16="http://schemas.microsoft.com/office/drawing/2014/main" val="485060312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1930568010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3035037308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2195828670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549573848"/>
                    </a:ext>
                  </a:extLst>
                </a:gridCol>
                <a:gridCol w="2407211">
                  <a:extLst>
                    <a:ext uri="{9D8B030D-6E8A-4147-A177-3AD203B41FA5}">
                      <a16:colId xmlns:a16="http://schemas.microsoft.com/office/drawing/2014/main" val="1854046376"/>
                    </a:ext>
                  </a:extLst>
                </a:gridCol>
              </a:tblGrid>
              <a:tr h="595429">
                <a:tc>
                  <a:txBody>
                    <a:bodyPr/>
                    <a:lstStyle/>
                    <a:p>
                      <a:r>
                        <a:rPr lang="en-US" sz="1600"/>
                        <a:t>6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Factors in recurrence (2024)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Scoping review of relapse factors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PubMed/Embase scoping review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Non-compliance, severity, age affect relapse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Review, not intervention-based (</a:t>
                      </a:r>
                      <a:r>
                        <a:rPr lang="en-US" sz="1600" dirty="0">
                          <a:hlinkClick r:id="rId2" tooltip="Factors influencing recurrence in clubfoot treatment with the Ponseti method in children under 5 years of age: a scoping review - PubMed"/>
                        </a:rPr>
                        <a:t>PubMed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31070" marR="31070" marT="15535" marB="15535" anchor="ctr"/>
                </a:tc>
                <a:extLst>
                  <a:ext uri="{0D108BD9-81ED-4DB2-BD59-A6C34878D82A}">
                    <a16:rowId xmlns:a16="http://schemas.microsoft.com/office/drawing/2014/main" val="91934714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AE3589-DA15-42D6-A703-DDB7C8B11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881766"/>
              </p:ext>
            </p:extLst>
          </p:nvPr>
        </p:nvGraphicFramePr>
        <p:xfrm>
          <a:off x="417510" y="1768430"/>
          <a:ext cx="11353801" cy="85403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89318">
                  <a:extLst>
                    <a:ext uri="{9D8B030D-6E8A-4147-A177-3AD203B41FA5}">
                      <a16:colId xmlns:a16="http://schemas.microsoft.com/office/drawing/2014/main" val="1042507361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3480267452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1740578608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1458368197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2169464174"/>
                    </a:ext>
                  </a:extLst>
                </a:gridCol>
                <a:gridCol w="2407211">
                  <a:extLst>
                    <a:ext uri="{9D8B030D-6E8A-4147-A177-3AD203B41FA5}">
                      <a16:colId xmlns:a16="http://schemas.microsoft.com/office/drawing/2014/main" val="4065010001"/>
                    </a:ext>
                  </a:extLst>
                </a:gridCol>
              </a:tblGrid>
              <a:tr h="595429"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Ferreira dos Santos et al. (2024)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Ponseti in myelomeningocele clubfoot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Systematic review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93% immediate correction, 62% relapse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Focused on special cases, small data (</a:t>
                      </a:r>
                      <a:r>
                        <a:rPr lang="en-US" sz="1600" dirty="0">
                          <a:hlinkClick r:id="rId2" tooltip="Factors influencing recurrence in clubfoot treatment with the Ponseti method in children under 5 years of age: a scoping review - PubMed"/>
                        </a:rPr>
                        <a:t>PubMed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31070" marR="31070" marT="15535" marB="15535" anchor="ctr"/>
                </a:tc>
                <a:extLst>
                  <a:ext uri="{0D108BD9-81ED-4DB2-BD59-A6C34878D82A}">
                    <a16:rowId xmlns:a16="http://schemas.microsoft.com/office/drawing/2014/main" val="67644549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3899743-A9B4-45D4-832A-B51E3278A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554055"/>
              </p:ext>
            </p:extLst>
          </p:nvPr>
        </p:nvGraphicFramePr>
        <p:xfrm>
          <a:off x="417510" y="2622460"/>
          <a:ext cx="11353801" cy="85403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89318">
                  <a:extLst>
                    <a:ext uri="{9D8B030D-6E8A-4147-A177-3AD203B41FA5}">
                      <a16:colId xmlns:a16="http://schemas.microsoft.com/office/drawing/2014/main" val="3424079639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1786214822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1473017487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1527777165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2114866073"/>
                    </a:ext>
                  </a:extLst>
                </a:gridCol>
                <a:gridCol w="2407211">
                  <a:extLst>
                    <a:ext uri="{9D8B030D-6E8A-4147-A177-3AD203B41FA5}">
                      <a16:colId xmlns:a16="http://schemas.microsoft.com/office/drawing/2014/main" val="68731910"/>
                    </a:ext>
                  </a:extLst>
                </a:gridCol>
              </a:tblGrid>
              <a:tr h="595429"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Gupta &amp; Agarwal (2021)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Bracing trends in 2021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Concept review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Highlights design comfort, compliance issues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Review only, non-empirical (</a:t>
                      </a:r>
                      <a:r>
                        <a:rPr lang="en-US" sz="1600" dirty="0">
                          <a:hlinkClick r:id="rId3" tooltip="Bracing in Clubfoot: What is Different in 2021?"/>
                        </a:rPr>
                        <a:t>Jaypee Digital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31070" marR="31070" marT="15535" marB="15535" anchor="ctr"/>
                </a:tc>
                <a:extLst>
                  <a:ext uri="{0D108BD9-81ED-4DB2-BD59-A6C34878D82A}">
                    <a16:rowId xmlns:a16="http://schemas.microsoft.com/office/drawing/2014/main" val="385052759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270C8F-D1F9-47A4-8980-A50977219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978475"/>
              </p:ext>
            </p:extLst>
          </p:nvPr>
        </p:nvGraphicFramePr>
        <p:xfrm>
          <a:off x="417509" y="3505200"/>
          <a:ext cx="11353801" cy="76259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89318">
                  <a:extLst>
                    <a:ext uri="{9D8B030D-6E8A-4147-A177-3AD203B41FA5}">
                      <a16:colId xmlns:a16="http://schemas.microsoft.com/office/drawing/2014/main" val="3776143777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2313671050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1421302557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3976925266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3200788218"/>
                    </a:ext>
                  </a:extLst>
                </a:gridCol>
                <a:gridCol w="2407211">
                  <a:extLst>
                    <a:ext uri="{9D8B030D-6E8A-4147-A177-3AD203B41FA5}">
                      <a16:colId xmlns:a16="http://schemas.microsoft.com/office/drawing/2014/main" val="728346255"/>
                    </a:ext>
                  </a:extLst>
                </a:gridCol>
              </a:tblGrid>
              <a:tr h="536304"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BMC study (2013–12)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Manipulation + above-knee brace (no tenotomy)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Prospective follow-up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93% corrected in 3–6 months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 tenotomy group only; older study (</a:t>
                      </a:r>
                      <a:r>
                        <a:rPr lang="en-US" sz="1600" dirty="0">
                          <a:hlinkClick r:id="rId4" tooltip="Manipulation and brace fixing for the treatment of congenital clubfoot in newborns and infants | BMC Musculoskeletal Disorders | Full Text"/>
                        </a:rPr>
                        <a:t>BioMed Central</a:t>
                      </a:r>
                      <a:r>
                        <a:rPr lang="en-US" sz="1600" dirty="0"/>
                        <a:t>, </a:t>
                      </a:r>
                      <a:r>
                        <a:rPr lang="en-US" sz="1600" dirty="0">
                          <a:hlinkClick r:id="rId5" tooltip="Manipulation and brace fixing for the treatment of congenital clubfoot in newborns and infants - PubMed"/>
                        </a:rPr>
                        <a:t>PubMed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31070" marR="31070" marT="15535" marB="15535" anchor="ctr"/>
                </a:tc>
                <a:extLst>
                  <a:ext uri="{0D108BD9-81ED-4DB2-BD59-A6C34878D82A}">
                    <a16:rowId xmlns:a16="http://schemas.microsoft.com/office/drawing/2014/main" val="34988196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E5B99B-ABA5-4459-B704-622B187AD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75544"/>
              </p:ext>
            </p:extLst>
          </p:nvPr>
        </p:nvGraphicFramePr>
        <p:xfrm>
          <a:off x="417509" y="4278040"/>
          <a:ext cx="11353801" cy="112835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89318">
                  <a:extLst>
                    <a:ext uri="{9D8B030D-6E8A-4147-A177-3AD203B41FA5}">
                      <a16:colId xmlns:a16="http://schemas.microsoft.com/office/drawing/2014/main" val="219928900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460610595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1342277627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1492311731"/>
                    </a:ext>
                  </a:extLst>
                </a:gridCol>
                <a:gridCol w="1789318">
                  <a:extLst>
                    <a:ext uri="{9D8B030D-6E8A-4147-A177-3AD203B41FA5}">
                      <a16:colId xmlns:a16="http://schemas.microsoft.com/office/drawing/2014/main" val="2134914848"/>
                    </a:ext>
                  </a:extLst>
                </a:gridCol>
                <a:gridCol w="2407211">
                  <a:extLst>
                    <a:ext uri="{9D8B030D-6E8A-4147-A177-3AD203B41FA5}">
                      <a16:colId xmlns:a16="http://schemas.microsoft.com/office/drawing/2014/main" val="3756845842"/>
                    </a:ext>
                  </a:extLst>
                </a:gridCol>
              </a:tblGrid>
              <a:tr h="786685"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Kadhum</a:t>
                      </a:r>
                      <a:r>
                        <a:rPr lang="en-US" sz="1600" dirty="0"/>
                        <a:t> (2019)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Biomechanics of </a:t>
                      </a:r>
                      <a:r>
                        <a:rPr lang="en-US" sz="1600" dirty="0" err="1"/>
                        <a:t>Ponseti</a:t>
                      </a:r>
                      <a:r>
                        <a:rPr lang="en-US" sz="1600" dirty="0"/>
                        <a:t> method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Applied biomechanics study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Describes mechanical corrections and outcomes</a:t>
                      </a:r>
                    </a:p>
                  </a:txBody>
                  <a:tcPr marL="31070" marR="31070" marT="15535" marB="15535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Not a recent trial; technical focus (</a:t>
                      </a:r>
                      <a:r>
                        <a:rPr lang="en-US" sz="1600" dirty="0">
                          <a:hlinkClick r:id="rId6" tooltip="An Analysis of the Mechanical Properties of the Ponseti Method in Clubfoot Treatment - Kadhum - 2019 - Applied Bionics and Biomechanics - Wiley Online Library"/>
                        </a:rPr>
                        <a:t>Wiley Online Library</a:t>
                      </a:r>
                      <a:r>
                        <a:rPr lang="en-US" sz="1600" dirty="0"/>
                        <a:t>)</a:t>
                      </a:r>
                    </a:p>
                  </a:txBody>
                  <a:tcPr marL="31070" marR="31070" marT="15535" marB="15535" anchor="ctr"/>
                </a:tc>
                <a:extLst>
                  <a:ext uri="{0D108BD9-81ED-4DB2-BD59-A6C34878D82A}">
                    <a16:rowId xmlns:a16="http://schemas.microsoft.com/office/drawing/2014/main" val="1457973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553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3CE9-345C-9417-01D8-AE4262BD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7388" y="152400"/>
            <a:ext cx="11734800" cy="639761"/>
          </a:xfrm>
        </p:spPr>
        <p:txBody>
          <a:bodyPr>
            <a:normAutofit fontScale="90000"/>
          </a:bodyPr>
          <a:lstStyle/>
          <a:p>
            <a:r>
              <a:rPr lang="en-IN" dirty="0"/>
              <a:t>	Methodology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717780-87BE-4ECF-AA1C-299FC9E035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616" y="3284279"/>
            <a:ext cx="26321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E334C59-D4D2-4CD0-8F07-006172DA5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830" y="1219616"/>
            <a:ext cx="10895012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Gear Mechanism: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Simple gears for angle adjustment (abduction 60–70° affected, 40–45° unaffected;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dorsiflexion 10–15°). Easy to adjust without removing the brace.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Connecting Bar: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Lightweight aluminum/stainless rod with EVA padding for comfort.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Ergonomics: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Padded orthotic shoes, breathable lining, quick-release system, lightweight build.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Compliance: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Dynamic hinge for limited motion, reduced discomfort, better long-term use.</a:t>
            </a:r>
          </a:p>
        </p:txBody>
      </p:sp>
    </p:spTree>
    <p:extLst>
      <p:ext uri="{BB962C8B-B14F-4D97-AF65-F5344CB8AC3E}">
        <p14:creationId xmlns:p14="http://schemas.microsoft.com/office/powerpoint/2010/main" val="26534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3CE9-345C-9417-01D8-AE4262BD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7388" y="381000"/>
            <a:ext cx="11734800" cy="639761"/>
          </a:xfrm>
        </p:spPr>
        <p:txBody>
          <a:bodyPr>
            <a:normAutofit fontScale="90000"/>
          </a:bodyPr>
          <a:lstStyle/>
          <a:p>
            <a:r>
              <a:rPr lang="en-IN" dirty="0"/>
              <a:t>	List of Required Sources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717780-87BE-4ECF-AA1C-299FC9E035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7012" y="1235359"/>
            <a:ext cx="7028334" cy="4789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b="1" dirty="0"/>
              <a:t>Structural Parts: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Aluminum or Stainless Steel rods (lightweight, durable)</a:t>
            </a:r>
          </a:p>
          <a:p>
            <a:pPr marL="0" indent="0">
              <a:buNone/>
            </a:pPr>
            <a:r>
              <a:rPr lang="en-US" sz="2400" dirty="0"/>
              <a:t>Orthotic shoe base (custom-fit)</a:t>
            </a:r>
          </a:p>
          <a:p>
            <a:pPr marL="0" indent="0">
              <a:buNone/>
            </a:pPr>
            <a:r>
              <a:rPr lang="en-US" sz="2400" dirty="0"/>
              <a:t>EVA foam padding for comfort</a:t>
            </a:r>
          </a:p>
          <a:p>
            <a:pPr marL="0" indent="0">
              <a:buNone/>
            </a:pPr>
            <a:r>
              <a:rPr lang="en-US" sz="2400" dirty="0"/>
              <a:t>Velcro straps and quick-release buckles</a:t>
            </a:r>
          </a:p>
          <a:p>
            <a:pPr marL="0" indent="0">
              <a:buNone/>
            </a:pPr>
            <a:r>
              <a:rPr lang="en-US" sz="2400" dirty="0"/>
              <a:t>Hinges &amp; connectors (3D printed / machined)</a:t>
            </a:r>
          </a:p>
          <a:p>
            <a:pPr marL="0" indent="0">
              <a:buNone/>
            </a:pPr>
            <a:r>
              <a:rPr lang="en-US" sz="2400" dirty="0"/>
              <a:t>Worm gear + spur gear set for angle adjustment</a:t>
            </a:r>
          </a:p>
          <a:p>
            <a:pPr marL="0" indent="0">
              <a:buNone/>
            </a:pPr>
            <a:r>
              <a:rPr lang="en-US" sz="2400" b="1" dirty="0"/>
              <a:t>Tools and Equipment</a:t>
            </a:r>
          </a:p>
          <a:p>
            <a:pPr marL="0" indent="0">
              <a:buNone/>
            </a:pPr>
            <a:r>
              <a:rPr lang="en-US" sz="2400" dirty="0"/>
              <a:t>CAD Software (SolidWorks / Fusion 360 / AutoCAD)</a:t>
            </a:r>
          </a:p>
          <a:p>
            <a:pPr marL="0" indent="0">
              <a:buNone/>
            </a:pPr>
            <a:r>
              <a:rPr lang="en-US" sz="2400" dirty="0"/>
              <a:t>3D Printer (for connectors, shoe parts, housings)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47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3CE9-345C-9417-01D8-AE4262BD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38162" y="716598"/>
            <a:ext cx="11734800" cy="639761"/>
          </a:xfrm>
        </p:spPr>
        <p:txBody>
          <a:bodyPr>
            <a:normAutofit fontScale="90000"/>
          </a:bodyPr>
          <a:lstStyle/>
          <a:p>
            <a:r>
              <a:rPr lang="en-IN" dirty="0"/>
              <a:t>	Timeline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717780-87BE-4ECF-AA1C-299FC9E035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7012" y="3399028"/>
            <a:ext cx="2535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b="1" dirty="0"/>
              <a:t> 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6E9ED9-EBB7-4D1A-9364-930E3FD703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601694"/>
              </p:ext>
            </p:extLst>
          </p:nvPr>
        </p:nvGraphicFramePr>
        <p:xfrm>
          <a:off x="684212" y="1846780"/>
          <a:ext cx="10512426" cy="3566160"/>
        </p:xfrm>
        <a:graphic>
          <a:graphicData uri="http://schemas.openxmlformats.org/drawingml/2006/table">
            <a:tbl>
              <a:tblPr/>
              <a:tblGrid>
                <a:gridCol w="3504142">
                  <a:extLst>
                    <a:ext uri="{9D8B030D-6E8A-4147-A177-3AD203B41FA5}">
                      <a16:colId xmlns:a16="http://schemas.microsoft.com/office/drawing/2014/main" val="32014674"/>
                    </a:ext>
                  </a:extLst>
                </a:gridCol>
                <a:gridCol w="3504142">
                  <a:extLst>
                    <a:ext uri="{9D8B030D-6E8A-4147-A177-3AD203B41FA5}">
                      <a16:colId xmlns:a16="http://schemas.microsoft.com/office/drawing/2014/main" val="3566957019"/>
                    </a:ext>
                  </a:extLst>
                </a:gridCol>
                <a:gridCol w="3504142">
                  <a:extLst>
                    <a:ext uri="{9D8B030D-6E8A-4147-A177-3AD203B41FA5}">
                      <a16:colId xmlns:a16="http://schemas.microsoft.com/office/drawing/2014/main" val="260200021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Activities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779004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Literature Review &amp; Problem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 weeks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Review existing designs, compliance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29868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Design &amp; Modeling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 weeks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CAD modeling, simulation, material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45844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Prototype Fabrication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 weeks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Manufacturing and assembly of the brace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83189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Testing &amp;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 weeks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Comfort, adjustability, and durability tests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9101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/>
                        <a:t>Final Optimization &amp;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 weeks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Refinement, documentation, and 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66568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6E86B9-54A0-464F-840F-3ABF85F8B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564731"/>
              </p:ext>
            </p:extLst>
          </p:nvPr>
        </p:nvGraphicFramePr>
        <p:xfrm>
          <a:off x="557560" y="1739590"/>
          <a:ext cx="10794651" cy="3975410"/>
        </p:xfrm>
        <a:graphic>
          <a:graphicData uri="http://schemas.openxmlformats.org/drawingml/2006/table">
            <a:tbl>
              <a:tblPr/>
              <a:tblGrid>
                <a:gridCol w="10794651">
                  <a:extLst>
                    <a:ext uri="{9D8B030D-6E8A-4147-A177-3AD203B41FA5}">
                      <a16:colId xmlns:a16="http://schemas.microsoft.com/office/drawing/2014/main" val="548501863"/>
                    </a:ext>
                  </a:extLst>
                </a:gridCol>
              </a:tblGrid>
              <a:tr h="39754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36388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6AE3F5-D89B-4E54-BFB2-84E7F1882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627583"/>
              </p:ext>
            </p:extLst>
          </p:nvPr>
        </p:nvGraphicFramePr>
        <p:xfrm>
          <a:off x="557560" y="1729834"/>
          <a:ext cx="10811648" cy="479966"/>
        </p:xfrm>
        <a:graphic>
          <a:graphicData uri="http://schemas.openxmlformats.org/drawingml/2006/table">
            <a:tbl>
              <a:tblPr/>
              <a:tblGrid>
                <a:gridCol w="10811648">
                  <a:extLst>
                    <a:ext uri="{9D8B030D-6E8A-4147-A177-3AD203B41FA5}">
                      <a16:colId xmlns:a16="http://schemas.microsoft.com/office/drawing/2014/main" val="570503423"/>
                    </a:ext>
                  </a:extLst>
                </a:gridCol>
              </a:tblGrid>
              <a:tr h="47996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068422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661B09-2142-441C-8BEB-0ADC047BC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856328"/>
              </p:ext>
            </p:extLst>
          </p:nvPr>
        </p:nvGraphicFramePr>
        <p:xfrm>
          <a:off x="3623732" y="1752600"/>
          <a:ext cx="3156479" cy="3972156"/>
        </p:xfrm>
        <a:graphic>
          <a:graphicData uri="http://schemas.openxmlformats.org/drawingml/2006/table">
            <a:tbl>
              <a:tblPr/>
              <a:tblGrid>
                <a:gridCol w="3156479">
                  <a:extLst>
                    <a:ext uri="{9D8B030D-6E8A-4147-A177-3AD203B41FA5}">
                      <a16:colId xmlns:a16="http://schemas.microsoft.com/office/drawing/2014/main" val="1765930142"/>
                    </a:ext>
                  </a:extLst>
                </a:gridCol>
              </a:tblGrid>
              <a:tr h="39721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0370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35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3CE9-345C-9417-01D8-AE4262BD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7388" y="513757"/>
            <a:ext cx="11734800" cy="639761"/>
          </a:xfrm>
        </p:spPr>
        <p:txBody>
          <a:bodyPr>
            <a:normAutofit fontScale="90000"/>
          </a:bodyPr>
          <a:lstStyle/>
          <a:p>
            <a:r>
              <a:rPr lang="en-IN" dirty="0"/>
              <a:t>	Expected Outcome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B2CDA-4F22-4694-849B-8BF031AD11C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612" y="1338759"/>
            <a:ext cx="5410201" cy="418048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1947CA4-9097-4BDB-8676-3823D40352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913" y="1447800"/>
            <a:ext cx="6496137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brace prototype with a gear system to set the correct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foot angles.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 metal rod with padding for strength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comfort.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Pressure sensors to check if the brace is worn and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long.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to record wear-time and give simple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feedback.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Comfortable and easy for children to use daily.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compliance → lower risk of relapse.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 design that can be made locally.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report with CAD models, photos, tests,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results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494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3CE9-345C-9417-01D8-AE4262BD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7388" y="236539"/>
            <a:ext cx="11734800" cy="639761"/>
          </a:xfrm>
        </p:spPr>
        <p:txBody>
          <a:bodyPr>
            <a:normAutofit fontScale="90000"/>
          </a:bodyPr>
          <a:lstStyle/>
          <a:p>
            <a:r>
              <a:rPr lang="en-IN" dirty="0"/>
              <a:t>	Different types of braces are Available </a:t>
            </a:r>
          </a:p>
        </p:txBody>
      </p:sp>
      <p:sp>
        <p:nvSpPr>
          <p:cNvPr id="3" name="AutoShape 2" descr="Dennis Browne Splint: Effective Orthotic Solutions For Pediatric Foot  Deformities">
            <a:extLst>
              <a:ext uri="{FF2B5EF4-FFF2-40B4-BE49-F238E27FC236}">
                <a16:creationId xmlns:a16="http://schemas.microsoft.com/office/drawing/2014/main" id="{39C8BAD1-5122-4604-B191-BB80F73BA1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2012" y="3276599"/>
            <a:ext cx="3428999" cy="342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196" name="Picture 4" descr="Denis Browne bar - Wikipedia">
            <a:extLst>
              <a:ext uri="{FF2B5EF4-FFF2-40B4-BE49-F238E27FC236}">
                <a16:creationId xmlns:a16="http://schemas.microsoft.com/office/drawing/2014/main" id="{DEBC1086-AF75-4E81-BEC5-5DB1D0054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612" y="704850"/>
            <a:ext cx="3428999" cy="2571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77 Ponseti Method Royalty-Free Images, Stock Photos &amp; Pictures |  Shutterstock">
            <a:extLst>
              <a:ext uri="{FF2B5EF4-FFF2-40B4-BE49-F238E27FC236}">
                <a16:creationId xmlns:a16="http://schemas.microsoft.com/office/drawing/2014/main" id="{451C05B2-8942-43AF-926C-18A21C964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399" y="1790775"/>
            <a:ext cx="4267200" cy="312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173E35-CD9E-411E-B79F-B47E9668E678}"/>
              </a:ext>
            </a:extLst>
          </p:cNvPr>
          <p:cNvSpPr txBox="1"/>
          <p:nvPr/>
        </p:nvSpPr>
        <p:spPr>
          <a:xfrm>
            <a:off x="2530289" y="5053281"/>
            <a:ext cx="5299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Ponseti</a:t>
            </a:r>
            <a:r>
              <a:rPr lang="en-US" dirty="0"/>
              <a:t> Brace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6FDC43-5402-4C68-8D88-8EC5E2746580}"/>
              </a:ext>
            </a:extLst>
          </p:cNvPr>
          <p:cNvSpPr txBox="1"/>
          <p:nvPr/>
        </p:nvSpPr>
        <p:spPr>
          <a:xfrm>
            <a:off x="7865502" y="290415"/>
            <a:ext cx="48768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Denis Browne bar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D65303-9602-4C57-8781-96BA9E605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386" y="3891756"/>
            <a:ext cx="3947617" cy="2660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AF4F42-C53F-4301-A296-118852D72511}"/>
              </a:ext>
            </a:extLst>
          </p:cNvPr>
          <p:cNvSpPr txBox="1"/>
          <p:nvPr/>
        </p:nvSpPr>
        <p:spPr>
          <a:xfrm>
            <a:off x="8228012" y="3460201"/>
            <a:ext cx="3428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Dynamic Braces</a:t>
            </a:r>
          </a:p>
        </p:txBody>
      </p:sp>
    </p:spTree>
    <p:extLst>
      <p:ext uri="{BB962C8B-B14F-4D97-AF65-F5344CB8AC3E}">
        <p14:creationId xmlns:p14="http://schemas.microsoft.com/office/powerpoint/2010/main" val="172957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3CE9-345C-9417-01D8-AE4262BD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7388" y="381000"/>
            <a:ext cx="11734800" cy="639761"/>
          </a:xfrm>
        </p:spPr>
        <p:txBody>
          <a:bodyPr>
            <a:normAutofit fontScale="90000"/>
          </a:bodyPr>
          <a:lstStyle/>
          <a:p>
            <a:r>
              <a:rPr lang="en-IN" dirty="0"/>
              <a:t>	References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717780-87BE-4ECF-AA1C-299FC9E035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7012" y="1850648"/>
            <a:ext cx="1127760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arenR"/>
            </a:pPr>
            <a:r>
              <a:rPr lang="en-US" altLang="en-US" sz="2200" dirty="0">
                <a:latin typeface="Arial" panose="020B0604020202020204" pitchFamily="34" charset="0"/>
                <a:hlinkClick r:id="rId2"/>
              </a:rPr>
              <a:t>https://my.clevelandclinic.org/health/diseases/16889-clubfoot</a:t>
            </a:r>
            <a:endParaRPr lang="en-US" altLang="en-US" sz="2200" dirty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arenR"/>
            </a:pPr>
            <a:r>
              <a:rPr lang="en-US" altLang="en-US" sz="2200" dirty="0">
                <a:latin typeface="Arial" panose="020B0604020202020204" pitchFamily="34" charset="0"/>
                <a:hlinkClick r:id="rId3"/>
              </a:rPr>
              <a:t>https://pmc.ncbi.nlm.nih.gov/articles/PMC10480528/</a:t>
            </a:r>
            <a:endParaRPr lang="en-US" altLang="en-US" sz="2200" dirty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arenR"/>
            </a:pPr>
            <a:r>
              <a:rPr lang="en-US" altLang="en-US" sz="2200" dirty="0">
                <a:latin typeface="Arial" panose="020B0604020202020204" pitchFamily="34" charset="0"/>
                <a:hlinkClick r:id="rId4"/>
              </a:rPr>
              <a:t>https://www.hss.edu/health-library/conditions-and-treatments/the-ponseti-method-for-clubfoot-correction</a:t>
            </a:r>
            <a:endParaRPr lang="en-US" altLang="en-US" sz="2200" dirty="0"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AutoNum type="arabicParenR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79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1A2C0-2E99-46E7-B78D-BDE42D36B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Portfolio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F93BA-2949-47FD-A236-192B0E44E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https://tarunikamanoranjan.github.io/Clubfoot/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87638-480B-4624-82AD-5DA127170ED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1730444-3B65-4234-9998-D5F2EF57C986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94133-7D2D-4047-819F-8AEFE38482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9D9110-B89D-42F3-8B01-E2E15B82F3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0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F9C0-2BA8-491E-8982-E44AC0974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Block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4270E02-4CC2-4243-BF61-549E4C115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579" y="594519"/>
            <a:ext cx="5714999" cy="604996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D803C-1F7D-4909-A686-E94EEEB8332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1730444-3B65-4234-9998-D5F2EF57C986}" type="datetime1">
              <a:rPr lang="en-US" smtClean="0"/>
              <a:t>9/4/2025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201D0-A7D6-4047-88C5-C5777A120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9D9110-B89D-42F3-8B01-E2E15B82F3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1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36B199-45EA-4D8B-BE47-8734CEFC1AB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FCDF2FE-4B1C-431A-ADE6-33547B2AF5C5}" type="datetime1">
              <a:rPr lang="en-US" smtClean="0"/>
              <a:t>9/3/2025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302A2-0FB2-4CDE-865C-575FBDE254C9}"/>
              </a:ext>
            </a:extLst>
          </p:cNvPr>
          <p:cNvSpPr/>
          <p:nvPr/>
        </p:nvSpPr>
        <p:spPr>
          <a:xfrm>
            <a:off x="4219467" y="2590800"/>
            <a:ext cx="34556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cap="none" spc="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93744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5126&quot;&gt;&lt;/object&gt;&lt;object type=&quot;2&quot; unique_id=&quot;15127&quot;&gt;&lt;object type=&quot;3&quot; unique_id=&quot;15128&quot;&gt;&lt;property id=&quot;20148&quot; value=&quot;5&quot;/&gt;&lt;property id=&quot;20300&quot; value=&quot;Slide 1&quot;/&gt;&lt;property id=&quot;20307&quot; value=&quot;258&quot;/&gt;&lt;/object&gt;&lt;object type=&quot;3&quot; unique_id=&quot;15129&quot;&gt;&lt;property id=&quot;20148&quot; value=&quot;5&quot;/&gt;&lt;property id=&quot;20300&quot; value=&quot;Slide 2&quot;/&gt;&lt;property id=&quot;20307&quot; value=&quot;259&quot;/&gt;&lt;/object&gt;&lt;object type=&quot;3&quot; unique_id=&quot;15130&quot;&gt;&lt;property id=&quot;20148&quot; value=&quot;5&quot;/&gt;&lt;property id=&quot;20300&quot; value=&quot;Slide 4&quot;/&gt;&lt;property id=&quot;20307&quot; value=&quot;260&quot;/&gt;&lt;/object&gt;&lt;object type=&quot;3&quot; unique_id=&quot;15131&quot;&gt;&lt;property id=&quot;20148&quot; value=&quot;5&quot;/&gt;&lt;property id=&quot;20300&quot; value=&quot;Slide 5&quot;/&gt;&lt;property id=&quot;20307&quot; value=&quot;261&quot;/&gt;&lt;/object&gt;&lt;object type=&quot;3&quot; unique_id=&quot;15132&quot;&gt;&lt;property id=&quot;20148&quot; value=&quot;5&quot;/&gt;&lt;property id=&quot;20300&quot; value=&quot;Slide 6&quot;/&gt;&lt;property id=&quot;20307&quot; value=&quot;262&quot;/&gt;&lt;/object&gt;&lt;object type=&quot;3&quot; unique_id=&quot;15133&quot;&gt;&lt;property id=&quot;20148&quot; value=&quot;5&quot;/&gt;&lt;property id=&quot;20300&quot; value=&quot;Slide 7&quot;/&gt;&lt;property id=&quot;20307&quot; value=&quot;263&quot;/&gt;&lt;/object&gt;&lt;object type=&quot;3&quot; unique_id=&quot;15134&quot;&gt;&lt;property id=&quot;20148&quot; value=&quot;5&quot;/&gt;&lt;property id=&quot;20300&quot; value=&quot;Slide 8&quot;/&gt;&lt;property id=&quot;20307&quot; value=&quot;264&quot;/&gt;&lt;/object&gt;&lt;object type=&quot;3&quot; unique_id=&quot;15382&quot;&gt;&lt;property id=&quot;20148&quot; value=&quot;5&quot;/&gt;&lt;property id=&quot;20300&quot; value=&quot;Slide 3&quot;/&gt;&lt;property id=&quot;20307&quot; value=&quot;265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E7A6E05-A698-44F0-8252-FA15FFB0F886}">
  <we:reference id="f12c312d-282a-4734-8843-05915fdfef0b" version="4.3.3.0" store="EXCatalog" storeType="EXCatalog"/>
  <we:alternateReferences>
    <we:reference id="WA104178141" version="4.3.3.0" store="en-IN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16504</TotalTime>
  <Words>886</Words>
  <Application>Microsoft Office PowerPoint</Application>
  <PresentationFormat>Custom</PresentationFormat>
  <Paragraphs>171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Introduction </vt:lpstr>
      <vt:lpstr> Aim</vt:lpstr>
      <vt:lpstr> Objectives</vt:lpstr>
      <vt:lpstr> Literature Review </vt:lpstr>
      <vt:lpstr>PowerPoint Presentation</vt:lpstr>
      <vt:lpstr> Methodology</vt:lpstr>
      <vt:lpstr> List of Required Sources </vt:lpstr>
      <vt:lpstr> Timeline </vt:lpstr>
      <vt:lpstr> Expected Outcome </vt:lpstr>
      <vt:lpstr> Different types of braces are Available </vt:lpstr>
      <vt:lpstr> References </vt:lpstr>
      <vt:lpstr>Portfolio Link</vt:lpstr>
      <vt:lpstr>Block Diagram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Admin</cp:lastModifiedBy>
  <cp:revision>745</cp:revision>
  <cp:lastPrinted>2025-08-04T10:53:13Z</cp:lastPrinted>
  <dcterms:created xsi:type="dcterms:W3CDTF">2020-06-02T11:50:25Z</dcterms:created>
  <dcterms:modified xsi:type="dcterms:W3CDTF">2025-09-04T04:25:27Z</dcterms:modified>
</cp:coreProperties>
</file>